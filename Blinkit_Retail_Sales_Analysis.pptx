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accent"/>
          <p:cNvSpPr/>
          <p:nvPr/>
        </p:nvSpPr>
        <p:spPr>
          <a:xfrm>
            <a:off x="508000" y="431800"/>
            <a:ext cx="1905000" cy="9144"/>
          </a:xfrm>
          <a:prstGeom prst="line">
            <a:avLst/>
          </a:prstGeom>
          <a:ln w="50800">
            <a:solidFill>
              <a:srgbClr val="F16722"/>
            </a:solidFill>
            <a:prstDash val="solid"/>
          </a:ln>
        </p:spPr>
      </p:sp>
      <p:sp>
        <p:nvSpPr>
          <p:cNvPr id="3" name="cover-title"/>
          <p:cNvSpPr/>
          <p:nvPr/>
        </p:nvSpPr>
        <p:spPr>
          <a:xfrm>
            <a:off x="508000" y="685800"/>
            <a:ext cx="8890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4400" dirty="0">
                <a:solidFill>
                  <a:srgbClr val="0A192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Blinkit Retail Sales Analysis</a:t>
            </a:r>
            <a:endParaRPr lang="en-US" sz="4400" dirty="0"/>
          </a:p>
        </p:txBody>
      </p:sp>
      <p:sp>
        <p:nvSpPr>
          <p:cNvPr id="4" name="cover-kicker"/>
          <p:cNvSpPr/>
          <p:nvPr/>
        </p:nvSpPr>
        <p:spPr>
          <a:xfrm>
            <a:off x="508000" y="1422400"/>
            <a:ext cx="863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F1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&amp; OUTLET PERFORMANCE ANALYTICS</a:t>
            </a:r>
            <a:endParaRPr lang="en-US" sz="1400" dirty="0"/>
          </a:p>
        </p:txBody>
      </p:sp>
      <p:sp>
        <p:nvSpPr>
          <p:cNvPr id="5" name="cover-divider"/>
          <p:cNvSpPr/>
          <p:nvPr/>
        </p:nvSpPr>
        <p:spPr>
          <a:xfrm>
            <a:off x="508000" y="1803400"/>
            <a:ext cx="8636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cover-objective"/>
          <p:cNvSpPr/>
          <p:nvPr/>
        </p:nvSpPr>
        <p:spPr>
          <a:xfrm>
            <a:off x="508000" y="2082800"/>
            <a:ext cx="8636000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altLang="en-US" sz="20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20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altLang="en-US" sz="20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item-level outlet sales to understand category contribution, fat-content mix, outlet-format performance, location-tier patterns, outlet-size differences, and establishment-year cohorts.</a:t>
            </a:r>
            <a:endParaRPr lang="en-US" sz="20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altLang="en-US" sz="20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converts raw retail data into clear, decision-oriented analysis using Python, Pandas, Matplotlib, and Seaborn.</a:t>
            </a:r>
            <a:endParaRPr lang="en-US" sz="2000" dirty="0"/>
          </a:p>
        </p:txBody>
      </p:sp>
      <p:sp>
        <p:nvSpPr>
          <p:cNvPr id="7" name="scope-card"/>
          <p:cNvSpPr/>
          <p:nvPr/>
        </p:nvSpPr>
        <p:spPr>
          <a:xfrm>
            <a:off x="508000" y="5613400"/>
            <a:ext cx="8636000" cy="142240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cope-card-text"/>
          <p:cNvSpPr/>
          <p:nvPr/>
        </p:nvSpPr>
        <p:spPr>
          <a:xfrm>
            <a:off x="762000" y="5867400"/>
            <a:ext cx="8128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altLang="en-US" sz="18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scope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altLang="en-US" sz="18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8,523 records · 12 columns · descriptive educational extract</a:t>
            </a:r>
            <a:endParaRPr lang="en-US" sz="1800" dirty="0"/>
          </a:p>
        </p:txBody>
      </p:sp>
      <p:sp>
        <p:nvSpPr>
          <p:cNvPr id="9" name="kpi-card-1"/>
          <p:cNvSpPr/>
          <p:nvPr/>
        </p:nvSpPr>
        <p:spPr>
          <a:xfrm>
            <a:off x="9906000" y="1981200"/>
            <a:ext cx="2667000" cy="1676400"/>
          </a:xfrm>
          <a:prstGeom prst="roundRect">
            <a:avLst>
              <a:gd name="adj" fmla="val 6061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kpi-card-1-text"/>
          <p:cNvSpPr/>
          <p:nvPr/>
        </p:nvSpPr>
        <p:spPr>
          <a:xfrm>
            <a:off x="10160000" y="2235200"/>
            <a:ext cx="2159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3000" dirty="0">
                <a:solidFill>
                  <a:srgbClr val="F167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8,523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item-outlet rows</a:t>
            </a:r>
            <a:endParaRPr lang="en-US" sz="1800" dirty="0"/>
          </a:p>
        </p:txBody>
      </p:sp>
      <p:sp>
        <p:nvSpPr>
          <p:cNvPr id="11" name="kpi-card-2"/>
          <p:cNvSpPr/>
          <p:nvPr/>
        </p:nvSpPr>
        <p:spPr>
          <a:xfrm>
            <a:off x="12827000" y="1981200"/>
            <a:ext cx="2921000" cy="1676400"/>
          </a:xfrm>
          <a:prstGeom prst="roundRect">
            <a:avLst>
              <a:gd name="adj" fmla="val 6061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kpi-card-2-text"/>
          <p:cNvSpPr/>
          <p:nvPr/>
        </p:nvSpPr>
        <p:spPr>
          <a:xfrm>
            <a:off x="13081000" y="2235200"/>
            <a:ext cx="2413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3000" dirty="0">
                <a:solidFill>
                  <a:srgbClr val="2171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columns</a:t>
            </a:r>
            <a:endParaRPr lang="en-US" sz="1800" dirty="0"/>
          </a:p>
        </p:txBody>
      </p:sp>
      <p:sp>
        <p:nvSpPr>
          <p:cNvPr id="13" name="kpi-card-3"/>
          <p:cNvSpPr/>
          <p:nvPr/>
        </p:nvSpPr>
        <p:spPr>
          <a:xfrm>
            <a:off x="9906000" y="3911600"/>
            <a:ext cx="2667000" cy="1676400"/>
          </a:xfrm>
          <a:prstGeom prst="roundRect">
            <a:avLst>
              <a:gd name="adj" fmla="val 6061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kpi-card-3-text"/>
          <p:cNvSpPr/>
          <p:nvPr/>
        </p:nvSpPr>
        <p:spPr>
          <a:xfrm>
            <a:off x="10160000" y="4165600"/>
            <a:ext cx="2159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CELLS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3000" dirty="0">
                <a:solidFill>
                  <a:srgbClr val="238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1,463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item-weight values</a:t>
            </a:r>
            <a:endParaRPr lang="en-US" sz="1800" dirty="0"/>
          </a:p>
        </p:txBody>
      </p:sp>
      <p:sp>
        <p:nvSpPr>
          <p:cNvPr id="15" name="kpi-card-4"/>
          <p:cNvSpPr/>
          <p:nvPr/>
        </p:nvSpPr>
        <p:spPr>
          <a:xfrm>
            <a:off x="12827000" y="3911600"/>
            <a:ext cx="2921000" cy="1676400"/>
          </a:xfrm>
          <a:prstGeom prst="roundRect">
            <a:avLst>
              <a:gd name="adj" fmla="val 6061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kpi-card-4-text"/>
          <p:cNvSpPr/>
          <p:nvPr/>
        </p:nvSpPr>
        <p:spPr>
          <a:xfrm>
            <a:off x="13081000" y="4165600"/>
            <a:ext cx="2413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3000" dirty="0">
                <a:solidFill>
                  <a:srgbClr val="F167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3.97 / 5</a:t>
            </a:r>
            <a:endParaRPr lang="en-US" sz="18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item rating</a:t>
            </a:r>
            <a:endParaRPr lang="en-US" sz="1800" dirty="0"/>
          </a:p>
        </p:txBody>
      </p:sp>
      <p:sp>
        <p:nvSpPr>
          <p:cNvPr id="17" name="cover-footer-source"/>
          <p:cNvSpPr/>
          <p:nvPr/>
        </p:nvSpPr>
        <p:spPr>
          <a:xfrm>
            <a:off x="508000" y="8509000"/>
            <a:ext cx="889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blinkit_data.csv · Educational analysis extract</a:t>
            </a:r>
            <a:endParaRPr lang="en-US" sz="1200" dirty="0"/>
          </a:p>
        </p:txBody>
      </p:sp>
      <p:sp>
        <p:nvSpPr>
          <p:cNvPr id="18" name="cover-footer-author"/>
          <p:cNvSpPr/>
          <p:nvPr/>
        </p:nvSpPr>
        <p:spPr>
          <a:xfrm>
            <a:off x="508000" y="82042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Mayank Srivastava</a:t>
            </a:r>
            <a:endParaRPr lang="en-US" sz="1200" dirty="0"/>
          </a:p>
        </p:txBody>
      </p:sp>
      <p:sp>
        <p:nvSpPr>
          <p:cNvPr id="19" name="cover-page-number"/>
          <p:cNvSpPr/>
          <p:nvPr/>
        </p:nvSpPr>
        <p:spPr>
          <a:xfrm>
            <a:off x="14986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-accent"/>
          <p:cNvSpPr/>
          <p:nvPr/>
        </p:nvSpPr>
        <p:spPr>
          <a:xfrm>
            <a:off x="508000" y="431800"/>
            <a:ext cx="1905000" cy="9144"/>
          </a:xfrm>
          <a:prstGeom prst="line">
            <a:avLst/>
          </a:prstGeom>
          <a:ln w="50800">
            <a:solidFill>
              <a:srgbClr val="F16722"/>
            </a:solidFill>
            <a:prstDash val="solid"/>
          </a:ln>
        </p:spPr>
      </p:sp>
      <p:sp>
        <p:nvSpPr>
          <p:cNvPr id="3" name="mix-title"/>
          <p:cNvSpPr/>
          <p:nvPr/>
        </p:nvSpPr>
        <p:spPr>
          <a:xfrm>
            <a:off x="508000" y="635000"/>
            <a:ext cx="13335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0A192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 Mix &amp; Category Analysis</a:t>
            </a:r>
            <a:endParaRPr lang="en-US" sz="3400" dirty="0"/>
          </a:p>
        </p:txBody>
      </p:sp>
      <p:sp>
        <p:nvSpPr>
          <p:cNvPr id="4" name="mix-summary"/>
          <p:cNvSpPr/>
          <p:nvPr/>
        </p:nvSpPr>
        <p:spPr>
          <a:xfrm>
            <a:off x="508000" y="1371600"/>
            <a:ext cx="1460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views explain which product attributes and item categories contribute most to observed sales.</a:t>
            </a:r>
            <a:endParaRPr lang="en-US" sz="2000" dirty="0"/>
          </a:p>
        </p:txBody>
      </p:sp>
      <p:sp>
        <p:nvSpPr>
          <p:cNvPr id="5" name="mix-card-1"/>
          <p:cNvSpPr/>
          <p:nvPr/>
        </p:nvSpPr>
        <p:spPr>
          <a:xfrm>
            <a:off x="508000" y="2235200"/>
            <a:ext cx="4699000" cy="5334000"/>
          </a:xfrm>
          <a:prstGeom prst="roundRect">
            <a:avLst>
              <a:gd name="adj" fmla="val 2162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mix-card-1-rule"/>
          <p:cNvSpPr/>
          <p:nvPr/>
        </p:nvSpPr>
        <p:spPr>
          <a:xfrm>
            <a:off x="508000" y="2235200"/>
            <a:ext cx="4699000" cy="9144"/>
          </a:xfrm>
          <a:prstGeom prst="line">
            <a:avLst/>
          </a:prstGeom>
          <a:ln w="50800">
            <a:solidFill>
              <a:srgbClr val="F16722"/>
            </a:solidFill>
            <a:prstDash val="solid"/>
          </a:ln>
        </p:spPr>
      </p:sp>
      <p:sp>
        <p:nvSpPr>
          <p:cNvPr id="7" name="mix-card-1-text"/>
          <p:cNvSpPr/>
          <p:nvPr/>
        </p:nvSpPr>
        <p:spPr>
          <a:xfrm>
            <a:off x="812800" y="2514600"/>
            <a:ext cx="40894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altLang="en-US" sz="2200" dirty="0">
                <a:solidFill>
                  <a:srgbClr val="F167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 · Sales by Fat Content</a:t>
            </a:r>
            <a:endParaRPr lang="en-US" sz="18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8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altLang="en-US" sz="17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sales contribution from standardised Regular and Low Fat segments.</a:t>
            </a:r>
            <a:endParaRPr lang="en-US" sz="18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8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altLang="en-US" sz="17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product-mix contribution differ across fat-content groups?</a:t>
            </a:r>
            <a:endParaRPr lang="en-US" sz="18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VIEW</a:t>
            </a:r>
            <a:endParaRPr lang="en-US" sz="18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altLang="en-US" sz="17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or bar chart</a:t>
            </a:r>
            <a:r>
              <a:rPr lang="en-US" altLang="en-US" sz="17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percentage and total-sales labels.</a:t>
            </a:r>
            <a:endParaRPr lang="en-US" sz="18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8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altLang="en-US" sz="17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comparison only; it does not prove that fat content causes higher sales.</a:t>
            </a:r>
            <a:endParaRPr lang="en-US" sz="1800" dirty="0"/>
          </a:p>
        </p:txBody>
      </p:sp>
      <p:sp>
        <p:nvSpPr>
          <p:cNvPr id="8" name="mix-card-2"/>
          <p:cNvSpPr/>
          <p:nvPr/>
        </p:nvSpPr>
        <p:spPr>
          <a:xfrm>
            <a:off x="5778500" y="2235200"/>
            <a:ext cx="4699000" cy="5334000"/>
          </a:xfrm>
          <a:prstGeom prst="roundRect">
            <a:avLst>
              <a:gd name="adj" fmla="val 2162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mix-card-2-rule"/>
          <p:cNvSpPr/>
          <p:nvPr/>
        </p:nvSpPr>
        <p:spPr>
          <a:xfrm>
            <a:off x="5778500" y="2235200"/>
            <a:ext cx="4699000" cy="9144"/>
          </a:xfrm>
          <a:prstGeom prst="line">
            <a:avLst/>
          </a:prstGeom>
          <a:ln w="50800">
            <a:solidFill>
              <a:srgbClr val="2171B5"/>
            </a:solidFill>
            <a:prstDash val="solid"/>
          </a:ln>
        </p:spPr>
      </p:sp>
      <p:sp>
        <p:nvSpPr>
          <p:cNvPr id="10" name="mix-card-2-text"/>
          <p:cNvSpPr/>
          <p:nvPr/>
        </p:nvSpPr>
        <p:spPr>
          <a:xfrm>
            <a:off x="6083300" y="2514600"/>
            <a:ext cx="40894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altLang="en-US" sz="2200" dirty="0">
                <a:solidFill>
                  <a:srgbClr val="2171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 · Sales by Item Type</a:t>
            </a:r>
            <a:endParaRPr lang="en-US" sz="18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8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altLang="en-US" sz="17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product categories by total observed sales.</a:t>
            </a:r>
            <a:endParaRPr lang="en-US" sz="18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8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altLang="en-US" sz="17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drive the most sales and deserve assortment or promotion review?</a:t>
            </a:r>
            <a:endParaRPr lang="en-US" sz="18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VIEW</a:t>
            </a:r>
            <a:endParaRPr lang="en-US" sz="18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altLang="en-US" sz="17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horizontal bar chart</a:t>
            </a:r>
            <a:r>
              <a:rPr lang="en-US" altLang="en-US" sz="17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end-of-bar values.</a:t>
            </a:r>
            <a:endParaRPr lang="en-US" sz="18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8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altLang="en-US" sz="17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reflect both category performance and the number of records represented.</a:t>
            </a:r>
            <a:endParaRPr lang="en-US" sz="1800" dirty="0"/>
          </a:p>
        </p:txBody>
      </p:sp>
      <p:sp>
        <p:nvSpPr>
          <p:cNvPr id="11" name="mix-card-3"/>
          <p:cNvSpPr/>
          <p:nvPr/>
        </p:nvSpPr>
        <p:spPr>
          <a:xfrm>
            <a:off x="11049000" y="2235200"/>
            <a:ext cx="4699000" cy="5334000"/>
          </a:xfrm>
          <a:prstGeom prst="roundRect">
            <a:avLst>
              <a:gd name="adj" fmla="val 2162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mix-card-3-rule"/>
          <p:cNvSpPr/>
          <p:nvPr/>
        </p:nvSpPr>
        <p:spPr>
          <a:xfrm>
            <a:off x="11049000" y="2235200"/>
            <a:ext cx="4699000" cy="9144"/>
          </a:xfrm>
          <a:prstGeom prst="line">
            <a:avLst/>
          </a:prstGeom>
          <a:ln w="50800">
            <a:solidFill>
              <a:srgbClr val="238B45"/>
            </a:solidFill>
            <a:prstDash val="solid"/>
          </a:ln>
        </p:spPr>
      </p:sp>
      <p:sp>
        <p:nvSpPr>
          <p:cNvPr id="13" name="mix-card-3-text"/>
          <p:cNvSpPr/>
          <p:nvPr/>
        </p:nvSpPr>
        <p:spPr>
          <a:xfrm>
            <a:off x="11353800" y="2514600"/>
            <a:ext cx="40894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altLang="en-US" sz="2200" dirty="0">
                <a:solidFill>
                  <a:srgbClr val="238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 · Fat Content by Tier</a:t>
            </a:r>
            <a:endParaRPr lang="en-US" sz="18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8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altLang="en-US" sz="17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Regular versus Low Fat sales within each outlet location tier.</a:t>
            </a:r>
            <a:endParaRPr lang="en-US" sz="18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8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altLang="en-US" sz="17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product mix vary across Tier 1, Tier 2, and Tier 3 outlets?</a:t>
            </a:r>
            <a:endParaRPr lang="en-US" sz="18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VIEW</a:t>
            </a:r>
            <a:endParaRPr lang="en-US" sz="18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altLang="en-US" sz="17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column chart</a:t>
            </a:r>
            <a:r>
              <a:rPr lang="en-US" altLang="en-US" sz="17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one bar per location tier.</a:t>
            </a:r>
            <a:endParaRPr lang="en-US" sz="18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800" dirty="0"/>
          </a:p>
          <a:p>
            <a:pPr algn="l" indent="0" marL="0">
              <a:lnSpc>
                <a:spcPts val="2040"/>
              </a:lnSpc>
              <a:buNone/>
            </a:pPr>
            <a:r>
              <a:rPr lang="en-US" altLang="en-US" sz="17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notebook's standardised labels before grouping or comparing segments.</a:t>
            </a:r>
            <a:endParaRPr lang="en-US" sz="1800" dirty="0"/>
          </a:p>
        </p:txBody>
      </p:sp>
      <p:sp>
        <p:nvSpPr>
          <p:cNvPr id="14" name="mix-footer-source"/>
          <p:cNvSpPr/>
          <p:nvPr/>
        </p:nvSpPr>
        <p:spPr>
          <a:xfrm>
            <a:off x="508000" y="8509000"/>
            <a:ext cx="1143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analysis requirements derived from the project notebook and blinkit_data.csv</a:t>
            </a:r>
            <a:endParaRPr lang="en-US" sz="1200" dirty="0"/>
          </a:p>
        </p:txBody>
      </p:sp>
      <p:sp>
        <p:nvSpPr>
          <p:cNvPr id="15" name="mix-page-number"/>
          <p:cNvSpPr/>
          <p:nvPr/>
        </p:nvSpPr>
        <p:spPr>
          <a:xfrm>
            <a:off x="14986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utlet-accent"/>
          <p:cNvSpPr/>
          <p:nvPr/>
        </p:nvSpPr>
        <p:spPr>
          <a:xfrm>
            <a:off x="508000" y="431800"/>
            <a:ext cx="1905000" cy="9144"/>
          </a:xfrm>
          <a:prstGeom prst="line">
            <a:avLst/>
          </a:prstGeom>
          <a:ln w="50800">
            <a:solidFill>
              <a:srgbClr val="F16722"/>
            </a:solidFill>
            <a:prstDash val="solid"/>
          </a:ln>
        </p:spPr>
      </p:sp>
      <p:sp>
        <p:nvSpPr>
          <p:cNvPr id="3" name="outlet-title"/>
          <p:cNvSpPr/>
          <p:nvPr/>
        </p:nvSpPr>
        <p:spPr>
          <a:xfrm>
            <a:off x="508000" y="635000"/>
            <a:ext cx="13335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400" dirty="0">
                <a:solidFill>
                  <a:srgbClr val="0A192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Outlet &amp; Cohort Analysis</a:t>
            </a:r>
            <a:endParaRPr lang="en-US" sz="3400" dirty="0"/>
          </a:p>
        </p:txBody>
      </p:sp>
      <p:sp>
        <p:nvSpPr>
          <p:cNvPr id="4" name="outlet-summary"/>
          <p:cNvSpPr/>
          <p:nvPr/>
        </p:nvSpPr>
        <p:spPr>
          <a:xfrm>
            <a:off x="508000" y="1371600"/>
            <a:ext cx="1460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views add operational context by comparing outlet cohorts, sizes, and location tiers.</a:t>
            </a:r>
            <a:endParaRPr lang="en-US" sz="2000" dirty="0"/>
          </a:p>
        </p:txBody>
      </p:sp>
      <p:sp>
        <p:nvSpPr>
          <p:cNvPr id="5" name="outlet-card-1"/>
          <p:cNvSpPr/>
          <p:nvPr/>
        </p:nvSpPr>
        <p:spPr>
          <a:xfrm>
            <a:off x="508000" y="2235200"/>
            <a:ext cx="8255000" cy="142240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outlet-card-1-text"/>
          <p:cNvSpPr/>
          <p:nvPr/>
        </p:nvSpPr>
        <p:spPr>
          <a:xfrm>
            <a:off x="787400" y="2463800"/>
            <a:ext cx="7696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altLang="en-US" sz="2100" dirty="0">
                <a:solidFill>
                  <a:srgbClr val="F167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 · Sales by Establishment Year</a:t>
            </a:r>
            <a:endParaRPr lang="en-US" sz="18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altLang="en-US" sz="16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r>
              <a:rPr lang="en-US" altLang="en-US" sz="16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Sales by outlet cohort year. </a:t>
            </a:r>
            <a:r>
              <a:rPr lang="en-US" altLang="en-US" sz="16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</a:t>
            </a:r>
            <a:r>
              <a:rPr lang="en-US" altLang="en-US" sz="16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Compare outlet vintages; this is not a daily or monthly trend. </a:t>
            </a:r>
            <a:r>
              <a:rPr lang="en-US" altLang="en-US" sz="16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</a:t>
            </a:r>
            <a:r>
              <a:rPr lang="en-US" altLang="en-US" sz="16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 chart.</a:t>
            </a:r>
            <a:endParaRPr lang="en-US" sz="1800" dirty="0"/>
          </a:p>
        </p:txBody>
      </p:sp>
      <p:sp>
        <p:nvSpPr>
          <p:cNvPr id="7" name="outlet-card-2"/>
          <p:cNvSpPr/>
          <p:nvPr/>
        </p:nvSpPr>
        <p:spPr>
          <a:xfrm>
            <a:off x="508000" y="3937000"/>
            <a:ext cx="8255000" cy="142240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outlet-card-2-text"/>
          <p:cNvSpPr/>
          <p:nvPr/>
        </p:nvSpPr>
        <p:spPr>
          <a:xfrm>
            <a:off x="787400" y="4165600"/>
            <a:ext cx="7696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altLang="en-US" sz="2100" dirty="0">
                <a:solidFill>
                  <a:srgbClr val="2171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 · Sales by Outlet Size</a:t>
            </a:r>
            <a:endParaRPr lang="en-US" sz="18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altLang="en-US" sz="16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r>
              <a:rPr lang="en-US" altLang="en-US" sz="16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Sales across Small, Medium, and High outlet-size groups. </a:t>
            </a:r>
            <a:r>
              <a:rPr lang="en-US" altLang="en-US" sz="16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</a:t>
            </a:r>
            <a:r>
              <a:rPr lang="en-US" altLang="en-US" sz="16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Assess scale, then compare average sales to avoid a volume-only conclusion. </a:t>
            </a:r>
            <a:r>
              <a:rPr lang="en-US" altLang="en-US" sz="16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</a:t>
            </a:r>
            <a:r>
              <a:rPr lang="en-US" altLang="en-US" sz="16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Bar or donut.</a:t>
            </a:r>
            <a:endParaRPr lang="en-US" sz="1800" dirty="0"/>
          </a:p>
        </p:txBody>
      </p:sp>
      <p:sp>
        <p:nvSpPr>
          <p:cNvPr id="9" name="outlet-card-3"/>
          <p:cNvSpPr/>
          <p:nvPr/>
        </p:nvSpPr>
        <p:spPr>
          <a:xfrm>
            <a:off x="508000" y="5638800"/>
            <a:ext cx="8255000" cy="142240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outlet-card-3-text"/>
          <p:cNvSpPr/>
          <p:nvPr/>
        </p:nvSpPr>
        <p:spPr>
          <a:xfrm>
            <a:off x="787400" y="5867400"/>
            <a:ext cx="7696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altLang="en-US" sz="2100" dirty="0">
                <a:solidFill>
                  <a:srgbClr val="238B4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 · Sales by Location Tier</a:t>
            </a:r>
            <a:endParaRPr lang="en-US" sz="18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altLang="en-US" sz="16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r>
              <a:rPr lang="en-US" altLang="en-US" sz="16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Sales across Tier 1, Tier 2, and Tier 3 locations. </a:t>
            </a:r>
            <a:r>
              <a:rPr lang="en-US" altLang="en-US" sz="16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</a:t>
            </a:r>
            <a:r>
              <a:rPr lang="en-US" altLang="en-US" sz="16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Identify concentration and drill down by outlet type and category. </a:t>
            </a:r>
            <a:r>
              <a:rPr lang="en-US" altLang="en-US" sz="1600" b="1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</a:t>
            </a:r>
            <a:r>
              <a:rPr lang="en-US" altLang="en-US" sz="16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Ranked bar; use a map only with geographic coordinates.</a:t>
            </a:r>
            <a:endParaRPr lang="en-US" sz="1800" dirty="0"/>
          </a:p>
        </p:txBody>
      </p:sp>
      <p:sp>
        <p:nvSpPr>
          <p:cNvPr id="11" name="decision-panel"/>
          <p:cNvSpPr/>
          <p:nvPr/>
        </p:nvSpPr>
        <p:spPr>
          <a:xfrm>
            <a:off x="9271000" y="2235200"/>
            <a:ext cx="6477000" cy="4826000"/>
          </a:xfrm>
          <a:prstGeom prst="roundRect">
            <a:avLst>
              <a:gd name="adj" fmla="val 2105"/>
            </a:avLst>
          </a:prstGeom>
          <a:solidFill>
            <a:srgbClr val="0A192F"/>
          </a:solidFill>
          <a:ln/>
        </p:spPr>
      </p:sp>
      <p:sp>
        <p:nvSpPr>
          <p:cNvPr id="12" name="decision-panel-text"/>
          <p:cNvSpPr/>
          <p:nvPr/>
        </p:nvSpPr>
        <p:spPr>
          <a:xfrm>
            <a:off x="9626600" y="2565400"/>
            <a:ext cx="5765800" cy="416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altLang="en-US" sz="2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to interpret the outlet views</a:t>
            </a:r>
            <a:endParaRPr lang="en-US" sz="18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F1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VS. EFFICIENCY</a:t>
            </a:r>
            <a:endParaRPr lang="en-US" sz="1800" dirty="0"/>
          </a:p>
          <a:p>
            <a:pPr algn="l" indent="0" marL="0">
              <a:lnSpc>
                <a:spcPts val="2125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total sales with average sales per record before calling an outlet segment efficient.</a:t>
            </a:r>
            <a:endParaRPr lang="en-US" sz="18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F1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LOGIC</a:t>
            </a:r>
            <a:endParaRPr lang="en-US" sz="1800" dirty="0"/>
          </a:p>
          <a:p>
            <a:pPr algn="l" indent="0" marL="0">
              <a:lnSpc>
                <a:spcPts val="2125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tier → outlet type → outlet size → item category. This moves from what happened to where the opportunity may be.</a:t>
            </a:r>
            <a:endParaRPr lang="en-US" sz="18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F1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NOTE</a:t>
            </a:r>
            <a:endParaRPr lang="en-US" sz="1800" dirty="0"/>
          </a:p>
          <a:p>
            <a:pPr algn="l" indent="0" marL="0">
              <a:lnSpc>
                <a:spcPts val="2125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extract contains 1,463 missing item-weight values. Weight-based conclusions should state whether those records are excluded or imputed.</a:t>
            </a:r>
            <a:endParaRPr lang="en-US" sz="18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F16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CAUTION</a:t>
            </a:r>
            <a:endParaRPr lang="en-US" sz="1800" dirty="0"/>
          </a:p>
          <a:p>
            <a:pPr algn="l" indent="0" marL="0">
              <a:lnSpc>
                <a:spcPts val="2125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association is not proof of causation, profitability, or current company performance.</a:t>
            </a:r>
            <a:endParaRPr lang="en-US" sz="1800" dirty="0"/>
          </a:p>
        </p:txBody>
      </p:sp>
      <p:sp>
        <p:nvSpPr>
          <p:cNvPr id="13" name="outlet-footer-source"/>
          <p:cNvSpPr/>
          <p:nvPr/>
        </p:nvSpPr>
        <p:spPr>
          <a:xfrm>
            <a:off x="508000" y="8509000"/>
            <a:ext cx="1143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analysis requirements derived from the project notebook and blinkit_data.csv</a:t>
            </a:r>
            <a:endParaRPr lang="en-US" sz="1200" dirty="0"/>
          </a:p>
        </p:txBody>
      </p:sp>
      <p:sp>
        <p:nvSpPr>
          <p:cNvPr id="14" name="outlet-page-number"/>
          <p:cNvSpPr/>
          <p:nvPr/>
        </p:nvSpPr>
        <p:spPr>
          <a:xfrm>
            <a:off x="14986000" y="8509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Blinkit Retail Sales Analysis</dc:title>
  <dc:subject>Blinkit Retail Sales Analysis</dc:subject>
  <dc:creator>Manus</dc:creator>
  <cp:lastModifiedBy>Manus</cp:lastModifiedBy>
  <cp:revision>1</cp:revision>
  <dcterms:created xsi:type="dcterms:W3CDTF">2026-08-25T04:43:28Z</dcterms:created>
  <dcterms:modified xsi:type="dcterms:W3CDTF">2026-08-25T04:43:28Z</dcterms:modified>
</cp:coreProperties>
</file>